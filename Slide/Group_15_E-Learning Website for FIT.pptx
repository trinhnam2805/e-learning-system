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Arimo" charset="1" panose="020B0604020202020204"/>
      <p:regular r:id="rId17"/>
    </p:embeddedFont>
    <p:embeddedFont>
      <p:font typeface="Arimo Bold" charset="1" panose="020B07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6079" y="944895"/>
            <a:ext cx="14536943" cy="2280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6"/>
              </a:lnSpc>
            </a:pPr>
            <a:r>
              <a:rPr lang="en-US" sz="5600" spc="56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E-LEARNING SYSTEM FOR THE FACULTY OF INFORMATION TECHNOLOGY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44978" y="3478280"/>
            <a:ext cx="14398043" cy="122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Faculty of Information Technology, Hanoi University</a:t>
            </a:r>
          </a:p>
          <a:p>
            <a:pPr algn="ctr">
              <a:lnSpc>
                <a:spcPts val="477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57989" y="6044482"/>
            <a:ext cx="8115300" cy="122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Trần Thị Minh Nguyệt</a:t>
            </a:r>
          </a:p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2201040136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7989" y="7399616"/>
            <a:ext cx="8115300" cy="122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Kiều Minh Tiến</a:t>
            </a:r>
          </a:p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2201040155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7989" y="8756641"/>
            <a:ext cx="8115300" cy="122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Nguyễn Xuân Phú</a:t>
            </a:r>
          </a:p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2301040149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6044482"/>
            <a:ext cx="8115300" cy="122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Chu Minh Hiếu</a:t>
            </a:r>
          </a:p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2201040065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7382458"/>
            <a:ext cx="8115300" cy="122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Trịnh Văn Nam</a:t>
            </a:r>
          </a:p>
          <a:p>
            <a:pPr algn="ctr">
              <a:lnSpc>
                <a:spcPts val="4772"/>
              </a:lnSpc>
            </a:pPr>
            <a:r>
              <a:rPr lang="en-US" sz="3818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2301040134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86350" y="4817485"/>
            <a:ext cx="8115300" cy="61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2"/>
              </a:lnSpc>
            </a:pPr>
            <a:r>
              <a:rPr lang="en-US" b="true" sz="3818" spc="38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Nhóm 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1627" y="3031363"/>
            <a:ext cx="15965905" cy="13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47"/>
              </a:lnSpc>
              <a:buFont typeface="Arial"/>
              <a:buChar char="•"/>
            </a:pPr>
            <a:r>
              <a:rPr lang="en-US" sz="2799" spc="2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Understand the purpose of the document: Provide a foundation for analyzing, designing, and developing the E-Learning system.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1627" y="5013252"/>
            <a:ext cx="16604746" cy="198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5348"/>
              </a:lnSpc>
              <a:buFont typeface="Arial"/>
              <a:buChar char="•"/>
            </a:pPr>
            <a:r>
              <a:rPr lang="en-US" sz="2800" spc="28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Clearly understand the system objectives: Enhance proactiveness, support students in reviewing through notes, and motivate them us</a:t>
            </a:r>
            <a:r>
              <a:rPr lang="en-US" sz="2800" spc="28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ing ranking/badge mechanisms.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1627" y="711733"/>
            <a:ext cx="16604746" cy="194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95"/>
              </a:lnSpc>
            </a:pPr>
            <a:r>
              <a:rPr lang="en-US" sz="7165" spc="7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 ARE ABOUT TO ACHIEVE.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1627" y="7671415"/>
            <a:ext cx="15778832" cy="13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47"/>
              </a:lnSpc>
              <a:buFont typeface="Arial"/>
              <a:buChar char="•"/>
            </a:pPr>
            <a:r>
              <a:rPr lang="en-US" sz="2799" spc="2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Software development process, UML, MVC architecture, and REST API from the SE2 course.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0541" y="1133475"/>
            <a:ext cx="14786917" cy="223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5"/>
              </a:lnSpc>
            </a:pPr>
            <a:r>
              <a:rPr lang="en-US" sz="8165" spc="8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 CONTENT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56967" y="4235653"/>
            <a:ext cx="13774065" cy="5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b="true" sz="3812" spc="38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I. Introduction.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56967" y="5648226"/>
            <a:ext cx="13774065" cy="5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b="true" sz="3812" spc="38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II. General Description.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56967" y="7098265"/>
            <a:ext cx="13774065" cy="5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b="true" sz="3812" spc="38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III. Requirements.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15829" y="1114425"/>
            <a:ext cx="14377809" cy="875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7"/>
              </a:lnSpc>
            </a:pPr>
            <a:r>
              <a:rPr lang="en-US" sz="6365" spc="63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PART I. INTRODUCTION.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933950"/>
            <a:ext cx="16142589" cy="13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47"/>
              </a:lnSpc>
              <a:buFont typeface="Arial"/>
              <a:buChar char="•"/>
            </a:pPr>
            <a:r>
              <a:rPr lang="en-US" sz="2799" spc="2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Scope: A web application serving the online learning activities of students and lecturers in the IT Faculty.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18913"/>
            <a:ext cx="16230600" cy="13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47"/>
              </a:lnSpc>
              <a:buFont typeface="Arial"/>
              <a:buChar char="•"/>
            </a:pPr>
            <a:r>
              <a:rPr lang="en-US" sz="2799" spc="2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Core Features: Account management, content access, lesson-based notes, progress tracking, and gamification.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061847"/>
            <a:ext cx="15901957" cy="13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5347"/>
              </a:lnSpc>
              <a:buFont typeface="Arial"/>
              <a:buChar char="•"/>
            </a:pPr>
            <a:r>
              <a:rPr lang="en-US" sz="2799" spc="2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system allows students to take notes directly on each lesson to personalize their learning.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0541" y="1433093"/>
            <a:ext cx="14786917" cy="223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5"/>
              </a:lnSpc>
            </a:pPr>
            <a:r>
              <a:rPr lang="en-US" sz="8165" spc="8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 CONTENT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56967" y="4597702"/>
            <a:ext cx="13774065" cy="5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812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Part I. Introduction.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56967" y="6078139"/>
            <a:ext cx="13774065" cy="5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b="true" sz="3812" spc="38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II. General Description.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56967" y="7558576"/>
            <a:ext cx="13774065" cy="54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812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Part III.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1663" y="1114425"/>
            <a:ext cx="17184675" cy="178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6565" spc="65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PART II. GENERAL DESCRIPTION.</a:t>
            </a:r>
          </a:p>
          <a:p>
            <a:pPr algn="ctr">
              <a:lnSpc>
                <a:spcPts val="69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695809" y="4565198"/>
            <a:ext cx="15185414" cy="100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289" indent="-306645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Gu</a:t>
            </a:r>
            <a:r>
              <a:rPr lang="en-US" sz="28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est: Users who are not logged in; can register, log in, reset passwords, and view course information.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5809" y="3122875"/>
            <a:ext cx="14884624" cy="150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289" indent="-306645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</a:t>
            </a:r>
            <a:r>
              <a:rPr lang="en-US" sz="28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udent: The primary learners; can manage personal info, register for courses, submit assignments, view grades, and comment.</a:t>
            </a:r>
          </a:p>
          <a:p>
            <a:pPr algn="l">
              <a:lnSpc>
                <a:spcPts val="397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95809" y="5993769"/>
            <a:ext cx="15185414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Lecturer: Content creators; can create/edit courses, manage students, create assignments, grade, and comment.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5809" y="7354076"/>
            <a:ext cx="15563491" cy="100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289" indent="-306645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Admini</a:t>
            </a:r>
            <a:r>
              <a:rPr lang="en-US" sz="28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strator: Responsible for system operation; manages students, lecturers, news, and comments with the highest access rights.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5809" y="8722876"/>
            <a:ext cx="15563491" cy="100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289" indent="-306645" lvl="1">
              <a:lnSpc>
                <a:spcPts val="3976"/>
              </a:lnSpc>
              <a:buFont typeface="Arial"/>
              <a:buChar char="•"/>
            </a:pPr>
            <a:r>
              <a:rPr lang="en-US" sz="284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Technology: Built on a Web platform using Java (Spring Boot) and MySQL, following the MVC architecture and using standard REST APIs.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0541" y="2060465"/>
            <a:ext cx="14786917" cy="2231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5"/>
              </a:lnSpc>
            </a:pPr>
            <a:r>
              <a:rPr lang="en-US" sz="8165" spc="8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 CONTENT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56967" y="4597702"/>
            <a:ext cx="13774065" cy="5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812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Part I. Introduction.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56967" y="5652470"/>
            <a:ext cx="13774065" cy="5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812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Part II. General Description.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56967" y="6707238"/>
            <a:ext cx="13774065" cy="54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b="true" sz="3812" spc="38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Part III.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5816" y="568797"/>
            <a:ext cx="14786917" cy="265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6565" spc="65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PART III. FUNCTIONAL &amp; PERFORMANCE REQUIREMENTS.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5816" y="4140310"/>
            <a:ext cx="14991643" cy="100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651" indent="-310826" lvl="1">
              <a:lnSpc>
                <a:spcPts val="4031"/>
              </a:lnSpc>
              <a:buFont typeface="Arial"/>
              <a:buChar char="•"/>
            </a:pPr>
            <a:r>
              <a:rPr lang="en-US" sz="28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Supp</a:t>
            </a:r>
            <a:r>
              <a:rPr lang="en-US" sz="28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ort forum interaction (create new posts, reply to existing posts, or respond to comments).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5816" y="8073081"/>
            <a:ext cx="14786917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Perf</a:t>
            </a: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ormance limits: Response time under 3 seconds under normal loads, supporting a minimum of 100 concurrent users, with 99% availability during business hours.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5816" y="5491435"/>
            <a:ext cx="14786917" cy="49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651" indent="-310826" lvl="1">
              <a:lnSpc>
                <a:spcPts val="4031"/>
              </a:lnSpc>
              <a:buFont typeface="Arial"/>
              <a:buChar char="•"/>
            </a:pPr>
            <a:r>
              <a:rPr lang="en-US" sz="28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28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ote-taking feature activated by highlighting text.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5816" y="6536491"/>
            <a:ext cx="15291627" cy="100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651" indent="-310826" lvl="1">
              <a:lnSpc>
                <a:spcPts val="4031"/>
              </a:lnSpc>
              <a:buFont typeface="Arial"/>
              <a:buChar char="•"/>
            </a:pPr>
            <a:r>
              <a:rPr lang="en-US" sz="28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28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ecurity constraints: Mandatory HTTPS/TLS (&gt;=1.2), with SSO/JWT used for authentication.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52374" y="598592"/>
            <a:ext cx="12017195" cy="9089816"/>
          </a:xfrm>
          <a:custGeom>
            <a:avLst/>
            <a:gdLst/>
            <a:ahLst/>
            <a:cxnLst/>
            <a:rect r="r" b="b" t="t" l="l"/>
            <a:pathLst>
              <a:path h="9089816" w="12017195">
                <a:moveTo>
                  <a:pt x="0" y="0"/>
                </a:moveTo>
                <a:lnTo>
                  <a:pt x="12017195" y="0"/>
                </a:lnTo>
                <a:lnTo>
                  <a:pt x="12017195" y="9089816"/>
                </a:lnTo>
                <a:lnTo>
                  <a:pt x="0" y="9089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7" r="0" b="-2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9536" y="3741534"/>
            <a:ext cx="5342128" cy="290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5"/>
              </a:lnSpc>
            </a:pPr>
            <a:r>
              <a:rPr lang="en-US" sz="7165" spc="7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GENERAL USE CASE DIAGRAM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28749" y="3596941"/>
            <a:ext cx="9030502" cy="172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84"/>
              </a:lnSpc>
            </a:pPr>
            <a:r>
              <a:rPr lang="en-US" sz="12438" spc="124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THANKS!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50851" y="6020548"/>
            <a:ext cx="9030502" cy="885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3"/>
              </a:lnSpc>
            </a:pPr>
            <a:r>
              <a:rPr lang="en-US" sz="6399" spc="63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DAHFzq1vUNA</dc:identifier>
  <dcterms:modified xsi:type="dcterms:W3CDTF">2011-08-01T06:04:30Z</dcterms:modified>
  <cp:revision>1</cp:revision>
  <dc:title>NAME OF THE PROJECT</dc:title>
</cp:coreProperties>
</file>